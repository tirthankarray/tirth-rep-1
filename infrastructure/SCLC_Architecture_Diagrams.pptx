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SCLC Patient Journey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</a:defRPr>
            </a:pPr>
            <a:r>
              <a:t>Enterprise Architecture on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BBBBB"/>
                </a:solidFill>
              </a:defRPr>
            </a:pPr>
            <a:r>
              <a:t>AWS  ·  React JS  ·  Databricks  ·  Redshift Serverless  ·  Terraform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BBBBB"/>
                </a:solidFill>
              </a:defRPr>
            </a:pPr>
            <a:r>
              <a:t>February 2026  ·  HIPAA Compliant  ·  Production-Ready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BBBBB"/>
                </a:solidFill>
              </a:defRPr>
            </a:pPr>
            <a:r>
              <a:t>Confidential — SCLC Patient Journey Dashboard — Enterprise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 End-to-End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914400"/>
            <a:ext cx="6400800" cy="6400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DATA SOURCES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EHR (HL7 FHIR)  ·  Claims (EDI 837)  ·  Labs  ·  Cancer Registries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89320" y="1554480"/>
            <a:ext cx="274320" cy="182880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965960"/>
            <a:ext cx="64008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S3 DATA LAKE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Landing Zone  ·  KMS Encrypted  ·  Parquet/CSV  ·  Lifecycle Policies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9320" y="2606040"/>
            <a:ext cx="274320" cy="182880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3017520"/>
            <a:ext cx="6400800" cy="64008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DATABRICKS ON AWS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Bronze → Silver → Gold  ·  Delta Lake  ·  Unity Catalog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9320" y="3657600"/>
            <a:ext cx="274320" cy="182880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4069080"/>
            <a:ext cx="6400800" cy="64008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AMAZON REDSHIFT SERVERLESS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Serving Layer  ·  Dim + Fact + Agg Tables  ·  Materialized Views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9320" y="4709160"/>
            <a:ext cx="274320" cy="182880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5120640"/>
            <a:ext cx="6400800" cy="6400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AWS LAMBDA + API GATEWAY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7 REST Endpoints  ·  Python 3.12  ·  Cognito Auth  ·  WAF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9320" y="5760720"/>
            <a:ext cx="274320" cy="182880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6172200"/>
            <a:ext cx="6400800" cy="6400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CLOUDFRONT + S3 (Frontend)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React 18 + TypeScript  ·  Recharts  ·  Route 53  ·  ACM TLS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44444"/>
                </a:solidFill>
              </a:defRPr>
            </a:pPr>
            <a:r>
              <a:t>AWS Transfer Family</a:t>
            </a:r>
            <a:br/>
            <a:r>
              <a:t>SFTP / FTPS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44444"/>
                </a:solidFill>
              </a:defRPr>
            </a:pPr>
            <a:r>
              <a:t>AWS Glue</a:t>
            </a:r>
            <a:br/>
            <a:r>
              <a:t>Schema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44444"/>
                </a:solidFill>
              </a:defRPr>
            </a:pPr>
            <a:r>
              <a:t>Delta Live Tables</a:t>
            </a:r>
            <a:br/>
            <a:r>
              <a:t>Pipeline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72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44444"/>
                </a:solidFill>
              </a:defRPr>
            </a:pPr>
            <a:r>
              <a:t>Redshift Data API</a:t>
            </a:r>
            <a:br/>
            <a:r>
              <a:t>Serverless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44444"/>
                </a:solidFill>
              </a:defRPr>
            </a:pPr>
            <a:r>
              <a:t>KMS CMK</a:t>
            </a:r>
            <a:br/>
            <a:r>
              <a:t>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44444"/>
                </a:solidFill>
              </a:defRPr>
            </a:pPr>
            <a:r>
              <a:t>VPC Private</a:t>
            </a:r>
            <a:br/>
            <a:r>
              <a:t>Subnets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749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44444"/>
                </a:solidFill>
              </a:defRPr>
            </a:pPr>
            <a:r>
              <a:t>IAM Least</a:t>
            </a:r>
            <a:br/>
            <a:r>
              <a:t>Privilege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937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44444"/>
                </a:solidFill>
              </a:defRPr>
            </a:pPr>
            <a:r>
              <a:t>CloudTrail</a:t>
            </a:r>
            <a:br/>
            <a:r>
              <a:t>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BBBBB"/>
                </a:solidFill>
              </a:defRPr>
            </a:pPr>
            <a:r>
              <a:t>Confidential — SCLC Patient Journey Dashboard — Enterprise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 Data Pipeline — Databricks Medallion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3200400" cy="457200"/>
          </a:xfrm>
          <a:prstGeom prst="round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BRONZE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2834640" cy="29260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bronze.ehr_patients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84832"/>
            <a:ext cx="2834640" cy="29260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bronze.ehr_encounters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32304"/>
            <a:ext cx="2834640" cy="29260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bronze.ehr_conditions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79776"/>
            <a:ext cx="2834640" cy="29260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bronze.ehr_procedures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27248"/>
            <a:ext cx="2834640" cy="29260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bronze.claims_professional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74720"/>
            <a:ext cx="2834640" cy="29260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bronze.claims_institutional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22192"/>
            <a:ext cx="2834640" cy="292608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bronze.claims_pharmacy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40480" y="2816352"/>
            <a:ext cx="73152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097280"/>
            <a:ext cx="3200400" cy="457200"/>
          </a:xfrm>
          <a:prstGeom prst="round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SILVER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737360"/>
            <a:ext cx="2834640" cy="29260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silver.dim_patient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084832"/>
            <a:ext cx="2834640" cy="29260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silver.dim_facility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432304"/>
            <a:ext cx="2834640" cy="29260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silver.fact_diagnosis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779776"/>
            <a:ext cx="2834640" cy="29260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silver.fact_treatment_episode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127248"/>
            <a:ext cx="2834640" cy="29260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silver.fact_response_assessment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474720"/>
            <a:ext cx="2834640" cy="29260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silver.fact_biomarker_test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822192"/>
            <a:ext cx="2834640" cy="29260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silver.fact_progression_event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169664"/>
            <a:ext cx="2834640" cy="292608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silver.fact_trial_enrollment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72400" y="2816352"/>
            <a:ext cx="73152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1097280"/>
            <a:ext cx="3200400" cy="457200"/>
          </a:xfrm>
          <a:prstGeom prst="round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GOLD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737360"/>
            <a:ext cx="2834640" cy="29260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gold.agg_overview_metrics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2084832"/>
            <a:ext cx="2834640" cy="29260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gold.agg_time_to_treatment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432304"/>
            <a:ext cx="2834640" cy="29260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gold.agg_treatment_patterns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2779776"/>
            <a:ext cx="2834640" cy="29260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gold.agg_geographic_metrics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127248"/>
            <a:ext cx="2834640" cy="292608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gold.agg_sankey_journey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943600"/>
            <a:ext cx="1078992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Delta Lake  ·  Unity Catalog Governance  ·  Auto Loader (Incremental)  ·  Schema Evolution  ·  Daily 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BBBBB"/>
                </a:solidFill>
              </a:defRPr>
            </a:pPr>
            <a:r>
              <a:t>Confidential — SCLC Patient Journey Dashboard — Enterprise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 Amazon Redshift — Data Warehouse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0" y="2926080"/>
            <a:ext cx="2560320" cy="146304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dim_patient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patient_id (DISTKEY)</a:t>
            </a:r>
            <a:br/>
            <a:r>
              <a:t>date_of_birth, gender</a:t>
            </a:r>
            <a:br/>
            <a:r>
              <a:t>state, insurance_type</a:t>
            </a:r>
            <a:br/>
            <a:r>
              <a:t>race_ethnicity, urban_rural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914400"/>
            <a:ext cx="2286000" cy="109728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dim_facility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facility_id, facility_name</a:t>
            </a:r>
            <a:br/>
            <a:r>
              <a:t>facility_type, state, city</a:t>
            </a:r>
            <a:br/>
            <a:r>
              <a:t>DISTSTYLE 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914400"/>
            <a:ext cx="2286000" cy="109728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dim_date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date_key (YYYYMMDD)</a:t>
            </a:r>
            <a:br/>
            <a:r>
              <a:t>year, quarter, month</a:t>
            </a:r>
            <a:br/>
            <a:r>
              <a:t>DISTSTYLE 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7432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fact_diagnosis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diagnosis_date</a:t>
            </a:r>
            <a:br/>
            <a:r>
              <a:t>stage, histology</a:t>
            </a:r>
            <a:br/>
            <a:r>
              <a:t>ecog_status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27432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fact_treatment_episode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treatment_start_date</a:t>
            </a:r>
            <a:br/>
            <a:r>
              <a:t>regimen_name, category</a:t>
            </a:r>
            <a:br/>
            <a:r>
              <a:t>line_of_therapy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743200"/>
            <a:ext cx="27432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fact_biomarker_test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test_date, biomarker_type</a:t>
            </a:r>
            <a:br/>
            <a:r>
              <a:t>test_result, pdl1_%</a:t>
            </a:r>
            <a:br/>
            <a:r>
              <a:t>tmb_score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4572000"/>
            <a:ext cx="27432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fact_response_assessment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assessment_date</a:t>
            </a:r>
            <a:br/>
            <a:r>
              <a:t>response_type (CR/PR/SD/PD)</a:t>
            </a:r>
            <a:br/>
            <a:r>
              <a:t>assessment_method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27432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fact_progression_event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progression_date</a:t>
            </a:r>
            <a:br/>
            <a:r>
              <a:t>pfs_days</a:t>
            </a:r>
            <a:br/>
            <a:r>
              <a:t>progression_site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5303520"/>
            <a:ext cx="27432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fact_trial_enrollment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enrollment_date</a:t>
            </a:r>
            <a:br/>
            <a:r>
              <a:t>trial_phase</a:t>
            </a:r>
            <a:br/>
            <a:r>
              <a:t>trial_status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731520"/>
            <a:ext cx="32004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  DIMENSION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731520"/>
            <a:ext cx="36576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  FACT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731520"/>
            <a:ext cx="36576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  Relationships: FK → dim_patient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BBBBB"/>
                </a:solidFill>
              </a:defRPr>
            </a:pPr>
            <a:r>
              <a:t>Confidential — SCLC Patient Journey Dashboard — Enterprise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 API &amp; Compute Layer — AWS Lambda + API Gateway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371600" cy="18288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React</a:t>
            </a:r>
            <a:br/>
            <a:r>
              <a:t>Dashboard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Browser</a:t>
            </a:r>
            <a:br/>
            <a:r>
              <a:t>Client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28800" y="3090672"/>
            <a:ext cx="73152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60320" y="1828800"/>
            <a:ext cx="1828800" cy="9144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Amazon Cognito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JWT Auth + MFA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3090672"/>
            <a:ext cx="45720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1371600"/>
            <a:ext cx="2286000" cy="41148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97280"/>
            <a:ext cx="347472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λ fn_metrics_overview</a:t>
            </a:r>
          </a:p>
          <a:p>
            <a:pPr algn="ctr">
              <a:defRPr sz="700">
                <a:solidFill>
                  <a:srgbClr val="FFFFFF"/>
                </a:solidFill>
              </a:defRPr>
            </a:pPr>
            <a:r>
              <a:t>GET /metrics/overview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26187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0" y="1783080"/>
            <a:ext cx="347472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λ fn_metrics_ttt</a:t>
            </a:r>
          </a:p>
          <a:p>
            <a:pPr algn="ctr">
              <a:defRPr sz="700">
                <a:solidFill>
                  <a:srgbClr val="FFFFFF"/>
                </a:solidFill>
              </a:defRPr>
            </a:pPr>
            <a:r>
              <a:t>GET /metrics/time-to-treatment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32320" y="194767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2468880"/>
            <a:ext cx="347472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λ fn_metrics_treatment_patterns</a:t>
            </a:r>
          </a:p>
          <a:p>
            <a:pPr algn="ctr">
              <a:defRPr sz="700">
                <a:solidFill>
                  <a:srgbClr val="FFFFFF"/>
                </a:solidFill>
              </a:defRPr>
            </a:pPr>
            <a:r>
              <a:t>GET /metrics/treatment-patterns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263347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3154680"/>
            <a:ext cx="347472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λ fn_geographic_states</a:t>
            </a:r>
          </a:p>
          <a:p>
            <a:pPr algn="ctr">
              <a:defRPr sz="700">
                <a:solidFill>
                  <a:srgbClr val="FFFFFF"/>
                </a:solidFill>
              </a:defRPr>
            </a:pPr>
            <a:r>
              <a:t>GET /geographic/states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32320" y="331927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3840480"/>
            <a:ext cx="347472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λ fn_patients_list</a:t>
            </a:r>
          </a:p>
          <a:p>
            <a:pPr algn="ctr">
              <a:defRPr sz="700">
                <a:solidFill>
                  <a:srgbClr val="FFFFFF"/>
                </a:solidFill>
              </a:defRPr>
            </a:pPr>
            <a:r>
              <a:t>GET /patients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32320" y="400507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4526280"/>
            <a:ext cx="347472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λ fn_patients_detail</a:t>
            </a:r>
          </a:p>
          <a:p>
            <a:pPr algn="ctr">
              <a:defRPr sz="700">
                <a:solidFill>
                  <a:srgbClr val="FFFFFF"/>
                </a:solidFill>
              </a:defRPr>
            </a:pPr>
            <a:r>
              <a:t>GET /patients/{id}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32320" y="469087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5212080"/>
            <a:ext cx="347472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λ fn_journey_sankey</a:t>
            </a:r>
          </a:p>
          <a:p>
            <a:pPr algn="ctr">
              <a:defRPr sz="700">
                <a:solidFill>
                  <a:srgbClr val="FFFFFF"/>
                </a:solidFill>
              </a:defRPr>
            </a:pPr>
            <a:r>
              <a:t>GET /patients/journey/sankey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32320" y="537667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5760720"/>
            <a:ext cx="3200400" cy="54864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Amazon Redshift Serverless (via Data API)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5760720"/>
            <a:ext cx="2743200" cy="5486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API Gateway Cache: 300s metrics, 60s patients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BBBBB"/>
                </a:solidFill>
              </a:defRPr>
            </a:pPr>
            <a:r>
              <a:t>Confidential — SCLC Patient Journey Dashboard — Enterprise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 Frontend Hosting &amp; CDN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645920" cy="109728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End User</a:t>
            </a:r>
            <a:br/>
            <a:r>
              <a:t>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1645920" cy="109728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Route 53</a:t>
            </a:r>
            <a:br/>
            <a:r>
              <a:t>DNS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1645920" cy="109728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CloudFront</a:t>
            </a:r>
            <a:br/>
            <a:r>
              <a:t>CDN (Edge)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1645920" cy="10972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WAF v2</a:t>
            </a:r>
            <a:br/>
            <a:r>
              <a:t>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71600"/>
            <a:ext cx="164592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S3 Bucket</a:t>
            </a:r>
            <a:br/>
            <a:r>
              <a:t>(OAC)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20240" y="181051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931920" y="181051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943600" y="181051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955280" y="1810512"/>
            <a:ext cx="54864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32720" y="1371600"/>
            <a:ext cx="137160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ACM</a:t>
            </a:r>
            <a:br/>
            <a:r>
              <a:t>TLS 1.3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1124712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  React Application Component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474720"/>
            <a:ext cx="164592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App.tsx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206240"/>
            <a:ext cx="1645920" cy="45720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Dashboard.tsx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64592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FilterPanel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29200"/>
            <a:ext cx="164592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KPICardRow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5029200"/>
            <a:ext cx="1645920" cy="4572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TimeToTreatmentChart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029200"/>
            <a:ext cx="1645920" cy="4572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TreatmentPatternsChart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5029200"/>
            <a:ext cx="164592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GeographicHeatMap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5029200"/>
            <a:ext cx="1645920" cy="45720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PatientTable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760720"/>
            <a:ext cx="3657600" cy="457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444444"/>
                </a:solidFill>
              </a:defRPr>
            </a:pPr>
            <a:r>
              <a:t>Zustand Store  ·  React Query  ·  API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5760720"/>
            <a:ext cx="365760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444444"/>
                </a:solidFill>
              </a:defRPr>
            </a:pPr>
            <a:r>
              <a:t>TypeScript Types  ·  Recharts  ·  Tailwind 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BBBBB"/>
                </a:solidFill>
              </a:defRPr>
            </a:pPr>
            <a:r>
              <a:t>Confidential — SCLC Patient Journey Dashboard — Enterprise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 Security &amp; Compliance — HIPAA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247120" cy="4572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3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6BB0"/>
                </a:solidFill>
              </a:defRPr>
            </a:pPr>
            <a:r>
              <a:t>VPC (10.0.0.0/16) — 2 Availability Zones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4572000" cy="10972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PUBLIC SUBNETS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NAT Gateway  ·  Internet Gateway</a:t>
            </a:r>
            <a:br/>
            <a:r>
              <a:t>10.0.1.0/24  ·  10.0.2.0/24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463040"/>
            <a:ext cx="5029200" cy="10972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PRIVATE SUBNETS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Lambda Functions (VPC-attached)</a:t>
            </a:r>
            <a:br/>
            <a:r>
              <a:t>10.0.11.0/24  ·  10.0.12.0/24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4572000" cy="10972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DATA SUBNETS (Isolated)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Redshift Serverless  ·  No Internet</a:t>
            </a:r>
            <a:br/>
            <a:r>
              <a:t>10.0.21.0/24  ·  10.0.22.0/24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926080"/>
            <a:ext cx="502920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VPC ENDPOINTS (PrivateLink)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Secrets Manager  ·  Redshift Data API</a:t>
            </a:r>
            <a:br/>
            <a:r>
              <a:t>CloudWatch Logs  ·  S3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320040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Encryption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KMS CMK (at rest)</a:t>
            </a:r>
            <a:br/>
            <a:r>
              <a:t>TLS 1.2+ (in transit)</a:t>
            </a:r>
            <a:br/>
            <a:r>
              <a:t>S3 SSE  ·  Redshift SSE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389120"/>
            <a:ext cx="320040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Identity &amp; Access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IAM Least Privilege</a:t>
            </a:r>
            <a:br/>
            <a:r>
              <a:t>Cognito (JWT + MFA)</a:t>
            </a:r>
            <a:br/>
            <a:r>
              <a:t>SAML/OIDC Federation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389120"/>
            <a:ext cx="320040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Audit &amp; Monitoring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CloudTrail (API logs)</a:t>
            </a:r>
            <a:br/>
            <a:r>
              <a:t>AWS Config (compliance)</a:t>
            </a:r>
            <a:br/>
            <a:r>
              <a:t>GuardDuty (threats)</a:t>
            </a:r>
            <a:br/>
            <a:r>
              <a:t>VPC Flow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1247120" cy="365760"/>
          </a:xfrm>
          <a:prstGeom prst="roundRect">
            <a:avLst/>
          </a:prstGeom>
          <a:solidFill>
            <a:srgbClr val="0F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AWS Business Associate Agreement (BAA) in place  ·  PHI encrypted at rest and in transit  ·  All access logged and auditable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BBBBB"/>
                </a:solidFill>
              </a:defRPr>
            </a:pPr>
            <a:r>
              <a:t>Confidential — SCLC Patient Journey Dashboard — Enterprise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  CI/CD Pipelines &amp;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  GitHub Actions CI/CD Pipelines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5943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deploy-frontend.yml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Build React → S3 → CloudFront Invalidation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48640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deploy-lambda.yml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Test → Package → Deploy Lambda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5486400" cy="59436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deploy-infra.yml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Terraform Validate → Plan → Apply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5486400" cy="5943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quality-gate.yml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Lint → Type Check → Test → Security Scan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548640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  Environment Promotion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6459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846320"/>
            <a:ext cx="1645920" cy="54864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STAGING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846320"/>
            <a:ext cx="1645920" cy="5486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03120" y="5010912"/>
            <a:ext cx="18288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3931920" y="5010912"/>
            <a:ext cx="182880" cy="219456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5577840"/>
            <a:ext cx="5486400" cy="457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444444"/>
                </a:solidFill>
              </a:defRPr>
            </a:pPr>
            <a:r>
              <a:t>Auto-deploy to Dev  ·  Manual approval for Staging/Prod  ·  OIDC Auth (no static keys)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914400"/>
            <a:ext cx="530352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  CloudWatch Monitoring &amp; Observability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303520" cy="914400"/>
          </a:xfrm>
          <a:prstGeom prst="roundRect">
            <a:avLst/>
          </a:prstGeom>
          <a:solidFill>
            <a:srgbClr val="236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CloudWatch Dashboards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API latency, error rates</a:t>
            </a:r>
            <a:br/>
            <a:r>
              <a:t>Lambda duration, invocations</a:t>
            </a:r>
            <a:br/>
            <a:r>
              <a:t>Redshift query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68880"/>
            <a:ext cx="5303520" cy="9144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CloudWatch Alarms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5xx rate &gt; 1%</a:t>
            </a:r>
            <a:br/>
            <a:r>
              <a:t>Lambda errors &gt; 5 / 5min</a:t>
            </a:r>
            <a:br/>
            <a:r>
              <a:t>Lambda p99 &gt; 10s</a:t>
            </a:r>
            <a:br/>
            <a:r>
              <a:t>Redshift queue &gt;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66160"/>
            <a:ext cx="5303520" cy="9144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AWS X-Ray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Distributed tracing</a:t>
            </a:r>
            <a:br/>
            <a:r>
              <a:t>Lambda → Redshift calls</a:t>
            </a:r>
            <a:br/>
            <a:r>
              <a:t>Latency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663440"/>
            <a:ext cx="5303520" cy="9144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SNS Alerts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Email notifications</a:t>
            </a:r>
            <a:br/>
            <a:r>
              <a:t>to ops team</a:t>
            </a:r>
            <a:br/>
            <a:r>
              <a:t>on alarm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BBBBB"/>
                </a:solidFill>
              </a:defRPr>
            </a:pPr>
            <a:r>
              <a:t>Confidential — SCLC Patient Journey Dashboard — Enterprise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